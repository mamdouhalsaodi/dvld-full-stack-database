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DVLD — Driver &amp; Vehicle License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6D4"/>
                </a:solidFill>
                <a:latin typeface="Calibri"/>
              </a:rPr>
              <a:t>A Windows Forms desktop system for managing driving-license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FB0C0"/>
                </a:solidFill>
                <a:latin typeface="Calibri"/>
              </a:rPr>
              <a:t>System overview — C# / WinForms / ADO.NET / SQL Server, .NET Framework 4.8</a:t>
            </a:r>
          </a:p>
          <a:p>
            <a:pPr algn="l"/>
            <a:r>
              <a:rPr sz="1400" b="0">
                <a:solidFill>
                  <a:srgbClr val="9FB0C0"/>
                </a:solidFill>
                <a:latin typeface="Calibri"/>
              </a:rPr>
              <a:t>© 2026 Mamdouh Alsaodi — MIT License  |  Training /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DVLD?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6D4"/>
                </a:solidFill>
                <a:latin typeface="Calibri"/>
              </a:rPr>
              <a:t>Purpose and scope, grounded in the repository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B54"/>
                </a:solidFill>
                <a:latin typeface="Calibri"/>
              </a:rPr>
              <a:t>DVLD models the day-to-day workflow of a driving-license department: registering people, opening applications, running a multi-stage test pipeline, issuing and managing licenses, and handling detentions — as a three-layer desktop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Platform</a:t>
            </a:r>
            <a:r>
              <a:rPr sz="1700">
                <a:solidFill>
                  <a:srgbClr val="444B54"/>
                </a:solidFill>
                <a:latin typeface="Calibri"/>
              </a:rPr>
              <a:t>  — Windows desktop app — C# / WinForms, .NET Framework 4.8 (per the three .csproj files)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Data layer</a:t>
            </a:r>
            <a:r>
              <a:rPr sz="1700">
                <a:solidFill>
                  <a:srgbClr val="444B54"/>
                </a:solidFill>
                <a:latin typeface="Calibri"/>
              </a:rPr>
              <a:t>  — Direct ADO.NET (SqlConnection / SqlCommand / DataTable) against a SQL Server database named DVLD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Solution</a:t>
            </a:r>
            <a:r>
              <a:rPr sz="1700">
                <a:solidFill>
                  <a:srgbClr val="444B54"/>
                </a:solidFill>
                <a:latin typeface="Calibri"/>
              </a:rPr>
              <a:t>  — One Visual Studio solution (DVLD-Forms/DVLD.sln) with three projects: UI, Business, DataAccess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Scope  — Training / portfolio project — no automated tests or CI</a:t>
            </a:r>
            <a:r>
              <a:rPr sz="1700">
                <a:solidFill>
                  <a:srgbClr val="444B54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License</a:t>
            </a:r>
            <a:r>
              <a:rPr sz="1700">
                <a:solidFill>
                  <a:srgbClr val="444B54"/>
                </a:solidFill>
                <a:latin typeface="Calibri"/>
              </a:rPr>
              <a:t>  — MIT License (LICENSE,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9C"/>
                </a:solidFill>
                <a:latin typeface="Calibri"/>
              </a:rPr>
              <a:t>DVLD — Driver &amp; Vehicle License Department  |  Training /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39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Three-Layer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6D4"/>
                </a:solidFill>
                <a:latin typeface="Calibri"/>
              </a:rPr>
              <a:t>DVLD-Forms/DVLD.sln — three projects, .NET Framework 4.8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97180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DVLD — WinExe (UI)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606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Windows Forms layer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• Forms &amp; user controls by feature: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  People, Users, Login, Applications,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  Licenses, Tests, Drivers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• Validation &amp; navigation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554480"/>
            <a:ext cx="297180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642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DVLD_Buisness —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011680"/>
            <a:ext cx="2606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Business logic layer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• One domain class per entity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  (clsPerson, clsApplication,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  clsLicense, clsTest, …)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• Rules, state (AddNew/Update),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  entity relationships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554480"/>
            <a:ext cx="297180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66420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DVLD_DataAccess —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011680"/>
            <a:ext cx="2606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Data access layer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• Raw ADO.NET: SqlConnection,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  parameterized SqlCommand,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  DataTable results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• Connection string in</a:t>
            </a:r>
          </a:p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  clsDataAccessSettings.cs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94760" y="2971800"/>
            <a:ext cx="640080" cy="411480"/>
          </a:xfrm>
          <a:prstGeom prst="rightArrow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772400" y="2971800"/>
            <a:ext cx="640080" cy="411480"/>
          </a:xfrm>
          <a:prstGeom prst="rightArrow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Calibri"/>
              </a:rPr>
              <a:t>Typical call flow:  Form → Business class (e.g. clsLicense.Save()) → Data class (e.g. clsLicenseData access) → SQL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9C"/>
                </a:solidFill>
                <a:latin typeface="Calibri"/>
              </a:rPr>
              <a:t>DVLD — Driver &amp; Vehicle License Department  |  Training / portfolio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39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Domain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6D4"/>
                </a:solidFill>
                <a:latin typeface="Calibri"/>
              </a:rPr>
              <a:t>Entities inferred from business classes and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4572000" cy="5303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0817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0817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4"/>
                </a:solidFill>
                <a:latin typeface="Calibri"/>
              </a:rPr>
              <a:t>personal record (base)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47672"/>
            <a:ext cx="4572000" cy="5303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2996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4"/>
                </a:solidFill>
                <a:latin typeface="Calibri"/>
              </a:rPr>
              <a:t>login account linked to a Person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9464"/>
            <a:ext cx="4572000" cy="5303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Application / ApplicationType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517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4"/>
                </a:solidFill>
                <a:latin typeface="Calibri"/>
              </a:rPr>
              <a:t>application record + fee-bearing types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91256"/>
            <a:ext cx="4572000" cy="5303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735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LicenseClass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27355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4"/>
                </a:solidFill>
                <a:latin typeface="Calibri"/>
              </a:rPr>
              <a:t>driving-license categories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13048"/>
            <a:ext cx="4572000" cy="5303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953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LocalDrivingLicenseApplication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9534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4"/>
                </a:solidFill>
                <a:latin typeface="Calibri"/>
              </a:rPr>
              <a:t>application for a license class; drives the test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4572000" cy="5303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1713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TestType / TestAppointment /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51713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4"/>
                </a:solidFill>
                <a:latin typeface="Calibri"/>
              </a:rPr>
              <a:t>three-stage test workflow: schedule → take →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56632"/>
            <a:ext cx="4572000" cy="5303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3892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License / InternationalLicense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13892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4"/>
                </a:solidFill>
                <a:latin typeface="Calibri"/>
              </a:rPr>
              <a:t>issued licenses; renew, replace, international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78424"/>
            <a:ext cx="4572000" cy="530352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Driver / DetainedLicense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7607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B54"/>
                </a:solidFill>
                <a:latin typeface="Calibri"/>
              </a:rPr>
              <a:t>driver registry; detain / release licenses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9C"/>
                </a:solidFill>
                <a:latin typeface="Calibri"/>
              </a:rPr>
              <a:t>DVLD — Driver &amp; Vehicle License Department  |  Training / portfolio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39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Typical License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6D4"/>
                </a:solidFill>
                <a:latin typeface="Calibri"/>
              </a:rPr>
              <a:t>From registration to license issuance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847088" cy="2286000"/>
          </a:xfrm>
          <a:prstGeom prst="rect">
            <a:avLst/>
          </a:prstGeom>
          <a:solidFill>
            <a:srgbClr val="11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1. Log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User account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50008" y="2743200"/>
            <a:ext cx="109728" cy="365760"/>
          </a:xfrm>
          <a:prstGeom prst="rightArrow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9736" y="1828800"/>
            <a:ext cx="1847088" cy="2286000"/>
          </a:xfrm>
          <a:prstGeom prst="rect">
            <a:avLst/>
          </a:prstGeom>
          <a:solidFill>
            <a:srgbClr val="11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2. Register person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260604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Find or add a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person record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06824" y="2743200"/>
            <a:ext cx="109728" cy="365760"/>
          </a:xfrm>
          <a:prstGeom prst="rightArrow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828800"/>
            <a:ext cx="1847088" cy="2286000"/>
          </a:xfrm>
          <a:prstGeom prst="rect">
            <a:avLst/>
          </a:prstGeom>
          <a:solidFill>
            <a:srgbClr val="11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3. Open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Local driving-license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application for a class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63640" y="2743200"/>
            <a:ext cx="109728" cy="365760"/>
          </a:xfrm>
          <a:prstGeom prst="rightArrow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3368" y="1828800"/>
            <a:ext cx="1847088" cy="2286000"/>
          </a:xfrm>
          <a:prstGeom prst="rect">
            <a:avLst/>
          </a:prstGeom>
          <a:solidFill>
            <a:srgbClr val="11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4. Test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60604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Per test type: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schedule → take → result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220456" y="2743200"/>
            <a:ext cx="109728" cy="365760"/>
          </a:xfrm>
          <a:prstGeom prst="rightArrow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0184" y="1828800"/>
            <a:ext cx="1847088" cy="22860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5. Issue license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260604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First-time license after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passing all tests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77272" y="2743200"/>
            <a:ext cx="109728" cy="365760"/>
          </a:xfrm>
          <a:prstGeom prst="rightArrow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87000" y="1828800"/>
            <a:ext cx="1847088" cy="22860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96728" y="1965960"/>
            <a:ext cx="16276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6.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6728" y="2606040"/>
            <a:ext cx="16276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Renew · replace · detain /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release · international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720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B54"/>
                </a:solidFill>
                <a:latin typeface="Calibri"/>
              </a:rPr>
              <a:t>Supporting flows: manage users &amp; passwords · people directory · application types · test types · drivers list · full license history viewer — each with its own forms and list screens.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9C"/>
                </a:solidFill>
                <a:latin typeface="Calibri"/>
              </a:rPr>
              <a:t>DVLD — Driver &amp; Vehicle License Department  |  Training / portfolio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39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6D4"/>
                </a:solidFill>
                <a:latin typeface="Calibri"/>
              </a:rPr>
              <a:t>Folder → feature, as present in the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728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898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Login &amp; User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DVLD-Forms/Login · /User — login, list, add/update users, change password, user card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21408"/>
            <a:ext cx="109728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3113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People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DVLD-Forms/People — list, search, add/update, info card, find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62656"/>
            <a:ext cx="109728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7238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19856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DVLD-Forms/Applications — types, local driving-license apps, international license, renewal, replace lost/damaged, release detained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03904"/>
            <a:ext cx="109728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1363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Licenses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61104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DVLD-Forms/Licenses — issue first-time license, license info, history, detain license, international licenses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45152"/>
            <a:ext cx="109728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DVLD-Forms/Tests — test types, schedule test, take test, appointments list + schedule/take controls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86400"/>
            <a:ext cx="10972800" cy="749808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9612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Drivers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43600"/>
            <a:ext cx="10607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DVLD-Forms/Drivers — drivers list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9C"/>
                </a:solidFill>
                <a:latin typeface="Calibri"/>
              </a:rPr>
              <a:t>DVLD — Driver &amp; Vehicle License Department  |  Training / portfolio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39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Database &amp; Data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6D4"/>
                </a:solidFill>
                <a:latin typeface="Calibri"/>
              </a:rPr>
              <a:t>ADO.NET over SQL Server — no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Pattern</a:t>
            </a:r>
            <a:r>
              <a:rPr sz="1700">
                <a:solidFill>
                  <a:srgbClr val="444B54"/>
                </a:solidFill>
                <a:latin typeface="Calibri"/>
              </a:rPr>
              <a:t>  — one data class per entity (e.g. clsPersonData, clsUserData, clsLicenseData) in DVLD_DataAccess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Technique</a:t>
            </a:r>
            <a:r>
              <a:rPr sz="1700">
                <a:solidFill>
                  <a:srgbClr val="444B54"/>
                </a:solidFill>
                <a:latin typeface="Calibri"/>
              </a:rPr>
              <a:t>  — SqlConnection + parameterized SqlCommand; results via DataTable / ExecuteScalar / ExecuteNonQuery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Configuration</a:t>
            </a:r>
            <a:r>
              <a:rPr sz="1700">
                <a:solidFill>
                  <a:srgbClr val="444B54"/>
                </a:solidFill>
                <a:latin typeface="Calibri"/>
              </a:rPr>
              <a:t>  — connection string centralized in clsDataAccessSettings.cs — must be edited to point at your local SQL Server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Database backup  — DVLD.bak is included; inspect its contents before restoring</a:t>
            </a:r>
            <a:r>
              <a:rPr sz="1700">
                <a:solidFill>
                  <a:srgbClr val="444B54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Security note</a:t>
            </a:r>
            <a:r>
              <a:rPr sz="1700">
                <a:solidFill>
                  <a:srgbClr val="444B54"/>
                </a:solidFill>
                <a:latin typeface="Calibri"/>
              </a:rPr>
              <a:t>  — never commit real credentials; replace hard-coded connection details before any real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Calibri"/>
              </a:rPr>
              <a:t>⚠  DVLD.bak is tracked in the repository but unverified — inspect it in an isolated SQL Server instance before trusting or restoring it anywhere shared.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9C"/>
                </a:solidFill>
                <a:latin typeface="Calibri"/>
              </a:rPr>
              <a:t>DVLD — Driver &amp; Vehicle License Department  |  Training / portfolio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39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Setup &amp;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6D4"/>
                </a:solidFill>
                <a:latin typeface="Calibri"/>
              </a:rPr>
              <a:t>Exact requirements to build and run locally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6517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WinForms desktop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6517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Visual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solution is VS 2022 format (DVLD-Forms/DVLD.sln)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6517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.NET Framework 4.8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developer / targeting pack for all three projects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65176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81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7A8B"/>
                </a:solidFill>
                <a:latin typeface="Calibri"/>
              </a:rPr>
              <a:t>SQL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44B54"/>
                </a:solidFill>
                <a:latin typeface="Calibri"/>
              </a:rPr>
              <a:t>LocalDB, Express, or full edition to host the DVLD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B54"/>
                </a:solidFill>
                <a:latin typeface="Calibri"/>
              </a:rPr>
              <a:t>1.  Open DVLD-Forms/DVLD.sln in Visual Studio.</a:t>
            </a:r>
          </a:p>
          <a:p>
            <a:pPr algn="l"/>
            <a:r>
              <a:rPr sz="1600" b="0">
                <a:solidFill>
                  <a:srgbClr val="444B54"/>
                </a:solidFill>
                <a:latin typeface="Calibri"/>
              </a:rPr>
              <a:t>2.  Restore the database: restore DVLD.bak via SSMS (after inspecting it), or create a matching schema.</a:t>
            </a:r>
          </a:p>
          <a:p>
            <a:pPr algn="l"/>
            <a:r>
              <a:rPr sz="1600" b="0">
                <a:solidFill>
                  <a:srgbClr val="444B54"/>
                </a:solidFill>
                <a:latin typeface="Calibri"/>
              </a:rPr>
              <a:t>3.  Edit the connection string in DVLD_DataAccess/clsDataAccessSettings.cs for your local instance.</a:t>
            </a:r>
          </a:p>
          <a:p>
            <a:pPr algn="l"/>
            <a:r>
              <a:rPr sz="1600" b="0">
                <a:solidFill>
                  <a:srgbClr val="444B54"/>
                </a:solidFill>
                <a:latin typeface="Calibri"/>
              </a:rPr>
              <a:t>4.  Build the solution and run the DVLD (WinForms) project.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4A00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9C"/>
                </a:solidFill>
                <a:latin typeface="Calibri"/>
              </a:rPr>
              <a:t>DVLD — Driver &amp; Vehicle License Department  |  Training / portfolio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39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Known Limitations &amp;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6D4"/>
                </a:solidFill>
                <a:latin typeface="Calibri"/>
              </a:rPr>
              <a:t>What is claimed — and what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Testing  — no automated test suite is included in the repository</a:t>
            </a:r>
            <a:r>
              <a:rPr sz="1700">
                <a:solidFill>
                  <a:srgbClr val="444B54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Unverified backup</a:t>
            </a:r>
            <a:r>
              <a:rPr sz="1700">
                <a:solidFill>
                  <a:srgbClr val="444B54"/>
                </a:solidFill>
                <a:latin typeface="Calibri"/>
              </a:rPr>
              <a:t>  — DVLD.bak contents &amp; sensitivity unknown — treat as untrusted and potentially sensitive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Hard-coded config</a:t>
            </a:r>
            <a:r>
              <a:rPr sz="1700">
                <a:solidFill>
                  <a:srgbClr val="444B54"/>
                </a:solidFill>
                <a:latin typeface="Calibri"/>
              </a:rPr>
              <a:t>  — connection string lives in source code, not in a config file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Security</a:t>
            </a:r>
            <a:r>
              <a:rPr sz="1700">
                <a:solidFill>
                  <a:srgbClr val="444B54"/>
                </a:solidFill>
                <a:latin typeface="Calibri"/>
              </a:rPr>
              <a:t>  — no evidence of password hashing found in source; no hardening claimed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Repository hygiene</a:t>
            </a:r>
            <a:r>
              <a:rPr sz="1700">
                <a:solidFill>
                  <a:srgbClr val="444B54"/>
                </a:solidFill>
                <a:latin typeface="Calibri"/>
              </a:rPr>
              <a:t>  — bin/ and obj/ build artifacts are tracked; assembly/project name contains a “Buisness” typo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F2A43"/>
                </a:solidFill>
                <a:latin typeface="Calibri"/>
              </a:rPr>
              <a:t>•  Training / portfolio</a:t>
            </a:r>
            <a:r>
              <a:rPr sz="1700">
                <a:solidFill>
                  <a:srgbClr val="444B54"/>
                </a:solidFill>
                <a:latin typeface="Calibri"/>
              </a:rPr>
              <a:t>  — suitable as a learning artifact; production readiness is NOT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39C"/>
                </a:solidFill>
                <a:latin typeface="Calibri"/>
              </a:rPr>
              <a:t>DVLD — Driver &amp; Vehicle License Department  |  Training /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939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8C6D4"/>
                </a:solidFill>
                <a:latin typeface="Calibri"/>
              </a:rPr>
              <a:t>DVLD — Driver &amp; Vehicle License Department</a:t>
            </a:r>
          </a:p>
          <a:p>
            <a:pPr algn="l"/>
            <a:r>
              <a:rPr sz="1700" b="0">
                <a:solidFill>
                  <a:srgbClr val="B8C6D4"/>
                </a:solidFill>
                <a:latin typeface="Calibri"/>
              </a:rPr>
              <a:t>Three-layer .NET Framework 4.8 desktop system · WinForms · ADO.NET · SQL Server</a:t>
            </a:r>
          </a:p>
          <a:p>
            <a:pPr algn="l"/>
            <a:r>
              <a:rPr sz="1700" b="0">
                <a:solidFill>
                  <a:srgbClr val="B8C6D4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B8C6D4"/>
                </a:solidFill>
                <a:latin typeface="Calibri"/>
              </a:rPr>
              <a:t>Author: Mamdouh Alsaodi   ·   License: MIT (see LICENSE)</a:t>
            </a:r>
          </a:p>
          <a:p>
            <a:pPr algn="l"/>
            <a:r>
              <a:rPr sz="1700" b="0">
                <a:solidFill>
                  <a:srgbClr val="B8C6D4"/>
                </a:solidFill>
                <a:latin typeface="Calibri"/>
              </a:rPr>
              <a:t>Companion docs: README.md · docs/System-Overview.md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38100"/>
          </a:xfrm>
          <a:prstGeom prst="rect">
            <a:avLst/>
          </a:prstGeom>
          <a:solidFill>
            <a:srgbClr val="E89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Mamdouh Alsaodi</dc:creator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